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1"/>
    <p:sldId id="271" r:id="rId22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Control Plane for AI Decisions</a:t>
            </a:r>
          </a:p>
          <a:p>
            <a:r>
              <a:t>Own the brain, not just the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Fragmented AI systems</a:t>
            </a:r>
          </a:p>
          <a:p>
            <a:r>
              <a:t>No decision governance</a:t>
            </a:r>
          </a:p>
          <a:p>
            <a:r>
              <a:t>Inconsistent outputs</a:t>
            </a:r>
          </a:p>
          <a:p>
            <a:r>
              <a:t>Vendor lock-in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AI is everywhere</a:t>
            </a:r>
          </a:p>
          <a:p>
            <a:r>
              <a:t>But decision control is missing</a:t>
            </a:r>
          </a:p>
          <a:p>
            <a:r>
              <a:t>Control layer is inevitable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Intent-driven decisioning</a:t>
            </a:r>
          </a:p>
          <a:p>
            <a:r>
              <a:t>Central evaluation engine</a:t>
            </a:r>
          </a:p>
          <a:p>
            <a:r>
              <a:t>Governance + learning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Intent API</a:t>
            </a:r>
          </a:p>
          <a:p>
            <a:r>
              <a:t>Decision Engine</a:t>
            </a:r>
          </a:p>
          <a:p>
            <a:r>
              <a:t>Policy + Governance</a:t>
            </a:r>
          </a:p>
          <a:p>
            <a:r>
              <a:t>Multi-vendor routing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Intent → Decision Engine → Governance → Vendors →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>
                <a:solidFill>
                  <a:srgbClr val="008000"/>
                </a:solidFill>
              </a:rPr>
              <a:t>Decision intelligence layer</a:t>
            </a:r>
          </a:p>
          <a:p>
            <a:r>
              <a:rPr>
                <a:solidFill>
                  <a:srgbClr val="008000"/>
                </a:solidFill>
              </a:rPr>
              <a:t>Vendor-agnostic routing</a:t>
            </a:r>
          </a:p>
          <a:p>
            <a:r>
              <a:rPr>
                <a:solidFill>
                  <a:srgbClr val="008000"/>
                </a:solidFill>
              </a:rPr>
              <a:t>Built-in governance</a:t>
            </a:r>
          </a:p>
          <a:p>
            <a:r>
              <a:rPr>
                <a:solidFill>
                  <a:srgbClr val="008000"/>
                </a:solidFill>
              </a:rPr>
              <a:t>Learns from every 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 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Workflow tools = automation only</a:t>
            </a:r>
          </a:p>
          <a:p>
            <a:r>
              <a:t>LLM gateways = routing only</a:t>
            </a:r>
          </a:p>
          <a:p>
            <a:r>
              <a:rPr>
                <a:solidFill>
                  <a:srgbClr val="008000"/>
                </a:solidFill>
              </a:rPr>
              <a:t>DecisionMesh = evaluate + govern + learn</a:t>
            </a:r>
          </a:p>
          <a:p>
            <a:r>
              <a:rPr>
                <a:solidFill>
                  <a:srgbClr val="008000"/>
                </a:solidFill>
              </a:rPr>
              <a:t>Full control plane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Traction</a:t>
            </a:r>
          </a:p>
        </p:txBody>
      </p:sp>
      <p:sp>
        <p:nvSpPr>
          <p:cNvPr id="3" name="Stat1"/>
          <p:cNvSpPr>
            <a:spLocks noGrp="1"/>
          </p:cNvSpPr>
          <p:nvPr/>
        </p:nvSpPr>
        <p:spPr>
          <a:xfrm>
            <a:off x="457200" y="1150000"/>
            <a:ext cx="1980000" cy="170000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lIns="150000" rIns="150000" tIns="150000" bIns="150000" anchor="ctr"/>
          <a:lstStyle/>
          <a:p>
            <a:pPr algn="ctr"/>
            <a:r>
              <a:rPr lang="en-US" sz="4400" b="1">
                <a:solidFill>
                  <a:srgbClr val="1D4ED8"/>
                </a:solidFill>
              </a:rPr>
              <a:t>10K+</a:t>
            </a:r>
          </a:p>
          <a:p>
            <a:pPr algn="ctr"/>
            <a:r>
              <a:rPr lang="en-US" sz="1200">
                <a:solidFill>
                  <a:srgbClr val="1E40AF"/>
                </a:solidFill>
              </a:rPr>
              <a:t>decisions executed</a:t>
            </a:r>
          </a:p>
        </p:txBody>
      </p:sp>
      <p:sp>
        <p:nvSpPr>
          <p:cNvPr id="4" name="Stat2"/>
          <p:cNvSpPr>
            <a:spLocks noGrp="1"/>
          </p:cNvSpPr>
          <p:nvPr/>
        </p:nvSpPr>
        <p:spPr>
          <a:xfrm>
            <a:off x="2637200" y="1150000"/>
            <a:ext cx="1980000" cy="17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txBody>
          <a:bodyPr lIns="150000" rIns="150000" tIns="150000" bIns="150000" anchor="ctr"/>
          <a:lstStyle/>
          <a:p>
            <a:pPr algn="ctr"/>
            <a:r>
              <a:rPr lang="en-US" sz="4400" b="1">
                <a:solidFill>
                  <a:srgbClr val="15803D"/>
                </a:solidFill>
              </a:rPr>
              <a:t>30%</a:t>
            </a:r>
          </a:p>
          <a:p>
            <a:pPr algn="ctr"/>
            <a:r>
              <a:rPr lang="en-US" sz="1200">
                <a:solidFill>
                  <a:srgbClr val="166534"/>
                </a:solidFill>
              </a:rPr>
              <a:t>cost reduction via vendor switching</a:t>
            </a:r>
          </a:p>
        </p:txBody>
      </p:sp>
      <p:sp>
        <p:nvSpPr>
          <p:cNvPr id="5" name="Stat3"/>
          <p:cNvSpPr>
            <a:spLocks noGrp="1"/>
          </p:cNvSpPr>
          <p:nvPr/>
        </p:nvSpPr>
        <p:spPr>
          <a:xfrm>
            <a:off x="4817200" y="1150000"/>
            <a:ext cx="1980000" cy="170000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lIns="150000" rIns="150000" tIns="150000" bIns="150000" anchor="ctr"/>
          <a:lstStyle/>
          <a:p>
            <a:pPr algn="ctr"/>
            <a:r>
              <a:rPr lang="en-US" sz="4400" b="1">
                <a:solidFill>
                  <a:srgbClr val="C2410C"/>
                </a:solidFill>
              </a:rPr>
              <a:t>40%</a:t>
            </a:r>
          </a:p>
          <a:p>
            <a:pPr algn="ctr"/>
            <a:r>
              <a:rPr lang="en-US" sz="1200">
                <a:solidFill>
                  <a:srgbClr val="9A3412"/>
                </a:solidFill>
              </a:rPr>
              <a:t>latency improvement</a:t>
            </a:r>
          </a:p>
        </p:txBody>
      </p:sp>
      <p:sp>
        <p:nvSpPr>
          <p:cNvPr id="6" name="Stat4"/>
          <p:cNvSpPr>
            <a:spLocks noGrp="1"/>
          </p:cNvSpPr>
          <p:nvPr/>
        </p:nvSpPr>
        <p:spPr>
          <a:xfrm>
            <a:off x="6997200" y="1150000"/>
            <a:ext cx="1689600" cy="1700000"/>
          </a:xfrm>
          <a:prstGeom prst="rect">
            <a:avLst/>
          </a:prstGeom>
          <a:solidFill>
            <a:srgbClr val="FAF5FF"/>
          </a:solidFill>
          <a:ln>
            <a:solidFill>
              <a:srgbClr val="DDD6FE"/>
            </a:solidFill>
          </a:ln>
        </p:spPr>
        <p:txBody>
          <a:bodyPr lIns="150000" rIns="150000" tIns="150000" bIns="150000" anchor="ctr"/>
          <a:lstStyle/>
          <a:p>
            <a:pPr algn="ctr"/>
            <a:r>
              <a:rPr lang="en-US" sz="4400" b="1">
                <a:solidFill>
                  <a:srgbClr val="7C3AED"/>
                </a:solidFill>
              </a:rPr>
              <a:t>264</a:t>
            </a:r>
          </a:p>
          <a:p>
            <a:pPr algn="ctr"/>
            <a:r>
              <a:rPr lang="en-US" sz="1200">
                <a:solidFill>
                  <a:srgbClr val="6D28D9"/>
                </a:solidFill>
              </a:rPr>
              <a:t>fintech intents built</a:t>
            </a:r>
          </a:p>
        </p:txBody>
      </p:sp>
      <p:sp>
        <p:nvSpPr>
          <p:cNvPr id="7" name="Context"/>
          <p:cNvSpPr>
            <a:spLocks noGrp="1"/>
          </p:cNvSpPr>
          <p:nvPr/>
        </p:nvSpPr>
        <p:spPr>
          <a:xfrm>
            <a:off x="457200" y="3050000"/>
            <a:ext cx="8229600" cy="25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lIns="250000" rIns="250000" tIns="200000" bIns="200000"/>
          <a:lstStyle/>
          <a:p>
            <a:pPr algn="l"/>
            <a:r>
              <a:rPr lang="en-US" sz="1400" b="1">
                <a:solidFill>
                  <a:srgbClr val="1E293B"/>
                </a:solidFill>
              </a:rPr>
              <a:t>What’s been built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300">
                <a:solidFill>
                  <a:srgbClr val="374151"/>
                </a:solidFill>
              </a:rPr>
              <a:t>Full intent lifecycle engine: CREATED → PLANNING → EXECUTING → EVALUATED → COMPLETED</a:t>
            </a:r>
          </a:p>
          <a:p>
            <a:pPr algn="l"/>
            <a:r>
              <a:rPr lang="en-US" sz="1300">
                <a:solidFill>
                  <a:srgbClr val="374151"/>
                </a:solidFill>
              </a:rPr>
              <a:t>Multi-model routing: OpenAI, Claude, Gemini, DeepSeek, Azure — Economy / Standard / Premium tiers</a:t>
            </a:r>
          </a:p>
          <a:p>
            <a:pPr algn="l"/>
            <a:r>
              <a:rPr lang="en-US" sz="1300">
                <a:solidFill>
                  <a:srgbClr val="374151"/>
                </a:solidFill>
              </a:rPr>
              <a:t>Dual-payment gateway live: Stripe (international) + Razorpay (India) with quarterly/yearly billing</a:t>
            </a:r>
          </a:p>
          <a:p>
            <a:pPr algn="l"/>
            <a:r>
              <a:rPr lang="en-US" sz="1300">
                <a:solidFill>
                  <a:srgbClr val="374151"/>
                </a:solidFill>
              </a:rPr>
              <a:t>264 fintech-specific intent templates across 14 domains — no competitor has this depth</a:t>
            </a:r>
          </a:p>
          <a:p>
            <a:pPr algn="l"/>
            <a:r>
              <a:rPr lang="en-US" sz="1300">
                <a:solidFill>
                  <a:srgbClr val="374151"/>
                </a:solidFill>
              </a:rPr>
              <a:t>Early enterprise design partners onboarded in fintech vertical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How It Works — Live Demo Flow</a:t>
            </a:r>
          </a:p>
        </p:txBody>
      </p:sp>
      <p:sp>
        <p:nvSpPr>
          <p:cNvPr id="3" name="Step1"/>
          <p:cNvSpPr>
            <a:spLocks noGrp="1"/>
          </p:cNvSpPr>
          <p:nvPr/>
        </p:nvSpPr>
        <p:spPr>
          <a:xfrm>
            <a:off x="457200" y="1200000"/>
            <a:ext cx="1500000" cy="42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lIns="150000" rIns="150000" tIns="180000" bIns="180000" anchor="t"/>
          <a:lstStyle/>
          <a:p>
            <a:pPr algn="ctr"/>
            <a:r>
              <a:rPr lang="en-US" sz="2800" b="1">
                <a:solidFill>
                  <a:srgbClr val="93C5FD"/>
                </a:solidFill>
              </a:rPr>
              <a:t>1</a:t>
            </a:r>
          </a:p>
          <a:p>
            <a:pPr algn="ctr"/>
            <a:r>
              <a:rPr lang="en-US" sz="1300" b="1">
                <a:solidFill>
                  <a:srgbClr val="FFFFFF"/>
                </a:solidFill>
              </a:rPr>
              <a:t>Submit Intent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150">
                <a:solidFill>
                  <a:srgbClr val="BFDBFE"/>
                </a:solidFill>
              </a:rPr>
              <a:t>Pick from 264 fintech templates or write custom JSON</a:t>
            </a:r>
          </a:p>
          <a:p>
            <a:pPr algn="l"/>
            <a:r>
              <a:rPr lang="en-US" sz="1150">
                <a:solidFill>
                  <a:srgbClr val="BFDBFE"/>
                </a:solidFill>
              </a:rPr>
              <a:t>e.g. detect_fraud_transaction</a:t>
            </a:r>
          </a:p>
          <a:p>
            <a:pPr algn="l"/>
            <a:r>
              <a:rPr lang="en-US" sz="1150">
                <a:solidFill>
                  <a:srgbClr val="BFDBFE"/>
                </a:solidFill>
              </a:rPr>
              <a:t>Set budget, constraints, SLA</a:t>
            </a:r>
          </a:p>
        </p:txBody>
      </p:sp>
      <p:sp>
        <p:nvSpPr>
          <p:cNvPr id="4" name="Arr1"/>
          <p:cNvSpPr>
            <a:spLocks noGrp="1"/>
          </p:cNvSpPr>
          <p:nvPr/>
        </p:nvSpPr>
        <p:spPr>
          <a:xfrm>
            <a:off x="2057200" y="2800000"/>
            <a:ext cx="400000" cy="50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5" name="Step2"/>
          <p:cNvSpPr>
            <a:spLocks noGrp="1"/>
          </p:cNvSpPr>
          <p:nvPr/>
        </p:nvSpPr>
        <p:spPr>
          <a:xfrm>
            <a:off x="2557200" y="1200000"/>
            <a:ext cx="1500000" cy="4200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txBody>
          <a:bodyPr lIns="150000" rIns="150000" tIns="180000" bIns="180000" anchor="t"/>
          <a:lstStyle/>
          <a:p>
            <a:pPr algn="ctr"/>
            <a:r>
              <a:rPr lang="en-US" sz="2800" b="1">
                <a:solidFill>
                  <a:srgbClr val="86EFAC"/>
                </a:solidFill>
              </a:rPr>
              <a:t>2</a:t>
            </a:r>
          </a:p>
          <a:p>
            <a:pPr algn="ctr"/>
            <a:r>
              <a:rPr lang="en-US" sz="1300" b="1">
                <a:solidFill>
                  <a:srgbClr val="FFFFFF"/>
                </a:solidFill>
              </a:rPr>
              <a:t>Plan + Route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150">
                <a:solidFill>
                  <a:srgbClr val="BBF7D0"/>
                </a:solidFill>
              </a:rPr>
              <a:t>Planner selects best model: GPT-4o, Claude, Gemini, DeepSeek</a:t>
            </a:r>
          </a:p>
          <a:p>
            <a:pPr algn="l"/>
            <a:r>
              <a:rPr lang="en-US" sz="1150">
                <a:solidFill>
                  <a:srgbClr val="BBF7D0"/>
                </a:solidFill>
              </a:rPr>
              <a:t>Scored on: cost, accuracy, latency</a:t>
            </a:r>
          </a:p>
          <a:p>
            <a:pPr algn="l"/>
            <a:r>
              <a:rPr lang="en-US" sz="1150">
                <a:solidFill>
                  <a:srgbClr val="BBF7D0"/>
                </a:solidFill>
              </a:rPr>
              <a:t>Injection risk scanned before execution</a:t>
            </a:r>
          </a:p>
        </p:txBody>
      </p:sp>
      <p:sp>
        <p:nvSpPr>
          <p:cNvPr id="6" name="Arr2"/>
          <p:cNvSpPr>
            <a:spLocks noGrp="1"/>
          </p:cNvSpPr>
          <p:nvPr/>
        </p:nvSpPr>
        <p:spPr>
          <a:xfrm>
            <a:off x="4157200" y="2800000"/>
            <a:ext cx="400000" cy="50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7" name="Step3"/>
          <p:cNvSpPr>
            <a:spLocks noGrp="1"/>
          </p:cNvSpPr>
          <p:nvPr/>
        </p:nvSpPr>
        <p:spPr>
          <a:xfrm>
            <a:off x="4657200" y="1200000"/>
            <a:ext cx="1500000" cy="420000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 lIns="150000" rIns="150000" tIns="180000" bIns="180000" anchor="t"/>
          <a:lstStyle/>
          <a:p>
            <a:pPr algn="ctr"/>
            <a:r>
              <a:rPr lang="en-US" sz="2800" b="1">
                <a:solidFill>
                  <a:srgbClr val="FCA5A5"/>
                </a:solidFill>
              </a:rPr>
              <a:t>3</a:t>
            </a:r>
          </a:p>
          <a:p>
            <a:pPr algn="ctr"/>
            <a:r>
              <a:rPr lang="en-US" sz="1300" b="1">
                <a:solidFill>
                  <a:srgbClr val="FFFFFF"/>
                </a:solidFill>
              </a:rPr>
              <a:t>Execute + Govern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150">
                <a:solidFill>
                  <a:srgbClr val="FED7AA"/>
                </a:solidFill>
              </a:rPr>
              <a:t>Policy engine enforces rules</a:t>
            </a:r>
          </a:p>
          <a:p>
            <a:pPr algn="l"/>
            <a:r>
              <a:rPr lang="en-US" sz="1150">
                <a:solidFill>
                  <a:srgbClr val="FED7AA"/>
                </a:solidFill>
              </a:rPr>
              <a:t>Budget ceiling enforced per call</a:t>
            </a:r>
          </a:p>
          <a:p>
            <a:pPr algn="l"/>
            <a:r>
              <a:rPr lang="en-US" sz="1150">
                <a:solidFill>
                  <a:srgbClr val="FED7AA"/>
                </a:solidFill>
              </a:rPr>
              <a:t>Auto-retry on failure with drift tracking</a:t>
            </a:r>
          </a:p>
        </p:txBody>
      </p:sp>
      <p:sp>
        <p:nvSpPr>
          <p:cNvPr id="8" name="Arr3"/>
          <p:cNvSpPr>
            <a:spLocks noGrp="1"/>
          </p:cNvSpPr>
          <p:nvPr/>
        </p:nvSpPr>
        <p:spPr>
          <a:xfrm>
            <a:off x="6257200" y="2800000"/>
            <a:ext cx="400000" cy="50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75569"/>
                </a:solidFill>
              </a:rPr>
              <a:t>→</a:t>
            </a:r>
          </a:p>
        </p:txBody>
      </p:sp>
      <p:sp>
        <p:nvSpPr>
          <p:cNvPr id="9" name="Step4"/>
          <p:cNvSpPr>
            <a:spLocks noGrp="1"/>
          </p:cNvSpPr>
          <p:nvPr/>
        </p:nvSpPr>
        <p:spPr>
          <a:xfrm>
            <a:off x="6757200" y="1200000"/>
            <a:ext cx="1629600" cy="4200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txBody>
          <a:bodyPr lIns="150000" rIns="150000" tIns="180000" bIns="180000" anchor="t"/>
          <a:lstStyle/>
          <a:p>
            <a:pPr algn="ctr"/>
            <a:r>
              <a:rPr lang="en-US" sz="2800" b="1">
                <a:solidFill>
                  <a:srgbClr val="C4B5FD"/>
                </a:solidFill>
              </a:rPr>
              <a:t>4</a:t>
            </a:r>
          </a:p>
          <a:p>
            <a:pPr algn="ctr"/>
            <a:r>
              <a:rPr lang="en-US" sz="1300" b="1">
                <a:solidFill>
                  <a:srgbClr val="FFFFFF"/>
                </a:solidFill>
              </a:rPr>
              <a:t>Learn + Audit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150">
                <a:solidFill>
                  <a:srgbClr val="DDD6FE"/>
                </a:solidFill>
              </a:rPr>
              <a:t>Satisfaction scored, drift measured</a:t>
            </a:r>
          </a:p>
          <a:p>
            <a:pPr algn="l"/>
            <a:r>
              <a:rPr lang="en-US" sz="1150">
                <a:solidFill>
                  <a:srgbClr val="DDD6FE"/>
                </a:solidFill>
              </a:rPr>
              <a:t>Immutable audit log stored</a:t>
            </a:r>
          </a:p>
          <a:p>
            <a:pPr algn="l"/>
            <a:r>
              <a:rPr lang="en-US" sz="1150">
                <a:solidFill>
                  <a:srgbClr val="DDD6FE"/>
                </a:solidFill>
              </a:rPr>
              <a:t>Router improves for next decision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Moat</a:t>
            </a:r>
          </a:p>
        </p:txBody>
      </p:sp>
      <p:sp>
        <p:nvSpPr>
          <p:cNvPr id="3" name="Moat1"/>
          <p:cNvSpPr>
            <a:spLocks noGrp="1"/>
          </p:cNvSpPr>
          <p:nvPr/>
        </p:nvSpPr>
        <p:spPr>
          <a:xfrm>
            <a:off x="457200" y="1150000"/>
            <a:ext cx="3900000" cy="170000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lIns="200000" rIns="200000" tIns="180000" bIns="180000"/>
          <a:lstStyle/>
          <a:p>
            <a:pPr algn="l"/>
            <a:r>
              <a:rPr lang="en-US" sz="1500" b="1">
                <a:solidFill>
                  <a:srgbClr val="1E40AF"/>
                </a:solidFill>
              </a:rPr>
              <a:t>Decision history graph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1E3A8A"/>
                </a:solidFill>
              </a:rPr>
              <a:t>After 10K+ decisions, platform knows which model performs best for fraud detection in high-velocity UPI transactions. Impossible to replicate without the data.</a:t>
            </a:r>
          </a:p>
        </p:txBody>
      </p:sp>
      <p:sp>
        <p:nvSpPr>
          <p:cNvPr id="4" name="Moat2"/>
          <p:cNvSpPr>
            <a:spLocks noGrp="1"/>
          </p:cNvSpPr>
          <p:nvPr/>
        </p:nvSpPr>
        <p:spPr>
          <a:xfrm>
            <a:off x="4686800" y="1150000"/>
            <a:ext cx="3900000" cy="17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txBody>
          <a:bodyPr lIns="200000" rIns="200000" tIns="180000" bIns="180000"/>
          <a:lstStyle/>
          <a:p>
            <a:pPr algn="l"/>
            <a:r>
              <a:rPr lang="en-US" sz="1500" b="1">
                <a:solidFill>
                  <a:srgbClr val="14532D"/>
                </a:solidFill>
              </a:rPr>
              <a:t>264 fintech intent templates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166534"/>
                </a:solidFill>
              </a:rPr>
              <a:t>Pre-built across 14 financial domains. No gateway or workflow tool has domain depth at this level. Banks plug in; complexity stays with us.</a:t>
            </a:r>
          </a:p>
        </p:txBody>
      </p:sp>
      <p:sp>
        <p:nvSpPr>
          <p:cNvPr id="5" name="Moat3"/>
          <p:cNvSpPr>
            <a:spLocks noGrp="1"/>
          </p:cNvSpPr>
          <p:nvPr/>
        </p:nvSpPr>
        <p:spPr>
          <a:xfrm>
            <a:off x="457200" y="3050000"/>
            <a:ext cx="3900000" cy="170000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lIns="200000" rIns="200000" tIns="180000" bIns="180000"/>
          <a:lstStyle/>
          <a:p>
            <a:pPr algn="l"/>
            <a:r>
              <a:rPr lang="en-US" sz="1500" b="1">
                <a:solidFill>
                  <a:srgbClr val="7C2D12"/>
                </a:solidFill>
              </a:rPr>
              <a:t>Deep enterprise integration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9A3412"/>
                </a:solidFill>
              </a:rPr>
              <a:t>Wired into auth (Zitadel), billing (Stripe + Razorpay), audit, policy engine. Ripping it out means rebuilding governance from scratch.</a:t>
            </a:r>
          </a:p>
        </p:txBody>
      </p:sp>
      <p:sp>
        <p:nvSpPr>
          <p:cNvPr id="6" name="Moat4"/>
          <p:cNvSpPr>
            <a:spLocks noGrp="1"/>
          </p:cNvSpPr>
          <p:nvPr/>
        </p:nvSpPr>
        <p:spPr>
          <a:xfrm>
            <a:off x="4686800" y="3050000"/>
            <a:ext cx="3900000" cy="1700000"/>
          </a:xfrm>
          <a:prstGeom prst="rect">
            <a:avLst/>
          </a:prstGeom>
          <a:solidFill>
            <a:srgbClr val="FAF5FF"/>
          </a:solidFill>
          <a:ln>
            <a:solidFill>
              <a:srgbClr val="DDD6FE"/>
            </a:solidFill>
          </a:ln>
        </p:spPr>
        <p:txBody>
          <a:bodyPr lIns="200000" rIns="200000" tIns="180000" bIns="180000"/>
          <a:lstStyle/>
          <a:p>
            <a:pPr algn="l"/>
            <a:r>
              <a:rPr lang="en-US" sz="1500" b="1">
                <a:solidFill>
                  <a:srgbClr val="4C1D95"/>
                </a:solidFill>
              </a:rPr>
              <a:t>Network effect on data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5B21B6"/>
                </a:solidFill>
              </a:rPr>
              <a:t>Every new tenant improves routing intelligence for all. The platform gets smarter with scale — a flywheel no single-tenant tool can replicate.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Exploding AI adoption</a:t>
            </a:r>
          </a:p>
          <a:p>
            <a:r>
              <a:t>No control layer exists</a:t>
            </a:r>
          </a:p>
          <a:p>
            <a:r>
              <a:t>New category: AI Control Plane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SaaS per tenant</a:t>
            </a:r>
          </a:p>
          <a:p>
            <a:r>
              <a:t>Usage per decision</a:t>
            </a:r>
          </a:p>
          <a:p>
            <a:r>
              <a:t>Enterprise licensing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DecisionMesh = AI Decision Brain</a:t>
            </a:r>
          </a:p>
          <a:p>
            <a:r>
              <a:t>Category defining company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Team</a:t>
            </a:r>
          </a:p>
        </p:txBody>
      </p:sp>
      <p:sp>
        <p:nvSpPr>
          <p:cNvPr id="3" name="Founder"/>
          <p:cNvSpPr>
            <a:spLocks noGrp="1"/>
          </p:cNvSpPr>
          <p:nvPr/>
        </p:nvSpPr>
        <p:spPr>
          <a:xfrm>
            <a:off x="457200" y="1200000"/>
            <a:ext cx="3800000" cy="3800000"/>
          </a:xfrm>
          <a:prstGeom prst="rect">
            <a:avLst/>
          </a:prstGeom>
          <a:solidFill>
            <a:srgbClr val="EBF3FB"/>
          </a:solidFill>
          <a:ln>
            <a:solidFill>
              <a:srgbClr val="BDD7EE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2200" b="1">
                <a:solidFill>
                  <a:srgbClr val="1B4F72"/>
                </a:solidFill>
              </a:rPr>
              <a:t>Thirupala Reddy</a:t>
            </a:r>
          </a:p>
          <a:p>
            <a:pPr algn="l"/>
            <a:r>
              <a:rPr lang="en-US" sz="1400" b="1">
                <a:solidFill>
                  <a:srgbClr val="2563EB"/>
                </a:solidFill>
              </a:rPr>
              <a:t>Founder &amp; CEO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300">
                <a:solidFill>
                  <a:srgbClr val="1F2937"/>
                </a:solidFill>
              </a:rPr>
              <a:t>Building the AI control plane for enterprise fintech decisions.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 b="1">
                <a:solidFill>
                  <a:srgbClr val="374151"/>
                </a:solidFill>
              </a:rPr>
              <a:t xml:space="preserve">Background:  </a:t>
            </a:r>
            <a:r>
              <a:rPr lang="en-US" sz="1200">
                <a:solidFill>
                  <a:srgbClr val="374151"/>
                </a:solidFill>
              </a:rPr>
              <a:t>Enterprise software, payments, AI systems</a:t>
            </a:r>
          </a:p>
          <a:p>
            <a:pPr algn="l"/>
            <a:r>
              <a:rPr lang="en-US" sz="1200" b="1">
                <a:solidFill>
                  <a:srgbClr val="374151"/>
                </a:solidFill>
              </a:rPr>
              <a:t xml:space="preserve">Focus:  </a:t>
            </a:r>
            <a:r>
              <a:rPr lang="en-US" sz="1200">
                <a:solidFill>
                  <a:srgbClr val="374151"/>
                </a:solidFill>
              </a:rPr>
              <a:t>Product, architecture, go-to-market</a:t>
            </a:r>
          </a:p>
          <a:p>
            <a:pPr algn="l"/>
            <a:r>
              <a:rPr lang="en-US" sz="1200" b="1">
                <a:solidFill>
                  <a:srgbClr val="374151"/>
                </a:solidFill>
              </a:rPr>
              <a:t xml:space="preserve">Base:  </a:t>
            </a:r>
            <a:r>
              <a:rPr lang="en-US" sz="1200">
                <a:solidFill>
                  <a:srgbClr val="374151"/>
                </a:solidFill>
              </a:rPr>
              <a:t>Hyderabad, India</a:t>
            </a:r>
          </a:p>
        </p:txBody>
      </p:sp>
      <p:sp>
        <p:nvSpPr>
          <p:cNvPr id="4" name="Hiring"/>
          <p:cNvSpPr>
            <a:spLocks noGrp="1"/>
          </p:cNvSpPr>
          <p:nvPr/>
        </p:nvSpPr>
        <p:spPr>
          <a:xfrm>
            <a:off x="4600000" y="1200000"/>
            <a:ext cx="4086800" cy="17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1600" b="1">
                <a:solidFill>
                  <a:srgbClr val="14532D"/>
                </a:solidFill>
              </a:rPr>
              <a:t>We’re hiring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166534"/>
                </a:solidFill>
              </a:rPr>
              <a:t>ML Engineer</a:t>
            </a:r>
          </a:p>
          <a:p>
            <a:pPr algn="l"/>
            <a:r>
              <a:rPr lang="en-US" sz="1200">
                <a:solidFill>
                  <a:srgbClr val="166534"/>
                </a:solidFill>
              </a:rPr>
              <a:t>Fintech BD Lead</a:t>
            </a:r>
          </a:p>
          <a:p>
            <a:pPr algn="l"/>
            <a:r>
              <a:rPr lang="en-US" sz="1200">
                <a:solidFill>
                  <a:srgbClr val="166534"/>
                </a:solidFill>
              </a:rPr>
              <a:t>Enterprise Design Partners</a:t>
            </a:r>
          </a:p>
        </p:txBody>
      </p:sp>
      <p:sp>
        <p:nvSpPr>
          <p:cNvPr id="5" name="WhyUs"/>
          <p:cNvSpPr>
            <a:spLocks noGrp="1"/>
          </p:cNvSpPr>
          <p:nvPr/>
        </p:nvSpPr>
        <p:spPr>
          <a:xfrm>
            <a:off x="4600000" y="3100000"/>
            <a:ext cx="4086800" cy="1900000"/>
          </a:xfrm>
          <a:prstGeom prst="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1600" b="1">
                <a:solidFill>
                  <a:srgbClr val="78350F"/>
                </a:solidFill>
              </a:rPr>
              <a:t>Why this team wins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92400E"/>
                </a:solidFill>
              </a:rPr>
              <a:t>Domain-first: built fintech library before fundraising</a:t>
            </a:r>
          </a:p>
          <a:p>
            <a:pPr algn="l"/>
            <a:r>
              <a:rPr lang="en-US" sz="1200">
                <a:solidFill>
                  <a:srgbClr val="92400E"/>
                </a:solidFill>
              </a:rPr>
              <a:t>Operator mindset: shipping real product, not decks</a:t>
            </a:r>
          </a:p>
          <a:p>
            <a:pPr algn="l"/>
            <a:r>
              <a:rPr lang="en-US" sz="1200">
                <a:solidFill>
                  <a:srgbClr val="92400E"/>
                </a:solidFill>
              </a:rPr>
              <a:t>India-first: Razorpay + Stripe live from day 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Fintech Intent Library</a:t>
            </a:r>
          </a:p>
        </p:txBody>
      </p:sp>
      <p:sp>
        <p:nvSpPr>
          <p:cNvPr id="3" name="Stat"/>
          <p:cNvSpPr>
            <a:spLocks noGrp="1"/>
          </p:cNvSpPr>
          <p:nvPr/>
        </p:nvSpPr>
        <p:spPr>
          <a:xfrm>
            <a:off x="457200" y="1150000"/>
            <a:ext cx="8229600" cy="90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lIns="250000" rIns="250000" tIns="150000" bIns="150000" anchor="ctr"/>
          <a:lstStyle/>
          <a:p>
            <a:pPr algn="l"/>
            <a:r>
              <a:rPr lang="en-US" sz="2600" b="1">
                <a:solidFill>
                  <a:srgbClr val="FFFFFF"/>
                </a:solidFill>
              </a:rPr>
              <a:t>264 pre-built AI decision intents</a:t>
            </a:r>
            <a:r>
              <a:rPr lang="en-US" sz="1600">
                <a:solidFill>
                  <a:srgbClr val="93C5FD"/>
                </a:solidFill>
              </a:rPr>
              <a:t xml:space="preserve">   across 14 financial domains</a:t>
            </a:r>
          </a:p>
        </p:txBody>
      </p:sp>
      <p:sp>
        <p:nvSpPr>
          <p:cNvPr id="4" name="Domains"/>
          <p:cNvSpPr>
            <a:spLocks noGrp="1"/>
          </p:cNvSpPr>
          <p:nvPr/>
        </p:nvSpPr>
        <p:spPr>
          <a:xfrm>
            <a:off x="457200" y="2200000"/>
            <a:ext cx="4000000" cy="34000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1300" b="1">
                <a:solidFill>
                  <a:srgbClr val="1E293B"/>
                </a:solidFill>
              </a:rPr>
              <a:t>Domains covered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1D4ED8"/>
                </a:solidFill>
              </a:rPr>
              <a:t>Payments (25)</a:t>
            </a:r>
            <a:r>
              <a:rPr lang="en-US" sz="1200">
                <a:solidFill>
                  <a:srgbClr val="64748B"/>
                </a:solidFill>
              </a:rPr>
              <a:t xml:space="preserve">   Lending (23)</a:t>
            </a:r>
          </a:p>
          <a:p>
            <a:pPr algn="l"/>
            <a:r>
              <a:rPr lang="en-US" sz="1200">
                <a:solidFill>
                  <a:srgbClr val="DC2626"/>
                </a:solidFill>
              </a:rPr>
              <a:t>Fraud (21)</a:t>
            </a:r>
            <a:r>
              <a:rPr lang="en-US" sz="1200">
                <a:solidFill>
                  <a:srgbClr val="64748B"/>
                </a:solidFill>
              </a:rPr>
              <a:t xml:space="preserve">   Compliance (22)</a:t>
            </a:r>
          </a:p>
          <a:p>
            <a:pPr algn="l"/>
            <a:r>
              <a:rPr lang="en-US" sz="1200">
                <a:solidFill>
                  <a:srgbClr val="B45309"/>
                </a:solidFill>
              </a:rPr>
              <a:t>AP / AR (29)</a:t>
            </a:r>
            <a:r>
              <a:rPr lang="en-US" sz="1200">
                <a:solidFill>
                  <a:srgbClr val="64748B"/>
                </a:solidFill>
              </a:rPr>
              <a:t xml:space="preserve">   Treasury (20)</a:t>
            </a:r>
          </a:p>
          <a:p>
            <a:pPr algn="l"/>
            <a:r>
              <a:rPr lang="en-US" sz="1200">
                <a:solidFill>
                  <a:srgbClr val="0369A1"/>
                </a:solidFill>
              </a:rPr>
              <a:t>Investments (21)</a:t>
            </a:r>
            <a:r>
              <a:rPr lang="en-US" sz="1200">
                <a:solidFill>
                  <a:srgbClr val="64748B"/>
                </a:solidFill>
              </a:rPr>
              <a:t xml:space="preserve">   Customer Ops (21)</a:t>
            </a:r>
          </a:p>
          <a:p>
            <a:pPr algn="l"/>
            <a:r>
              <a:rPr lang="en-US" sz="1200">
                <a:solidFill>
                  <a:srgbClr val="1E40AF"/>
                </a:solidFill>
              </a:rPr>
              <a:t>Reconciliation (15)</a:t>
            </a:r>
            <a:r>
              <a:rPr lang="en-US" sz="1200">
                <a:solidFill>
                  <a:srgbClr val="64748B"/>
                </a:solidFill>
              </a:rPr>
              <a:t xml:space="preserve">   Billing (18)</a:t>
            </a:r>
          </a:p>
          <a:p>
            <a:pPr algn="l"/>
            <a:r>
              <a:rPr lang="en-US" sz="1200">
                <a:solidFill>
                  <a:srgbClr val="065F46"/>
                </a:solidFill>
              </a:rPr>
              <a:t>Insurance (10)</a:t>
            </a:r>
            <a:r>
              <a:rPr lang="en-US" sz="1200">
                <a:solidFill>
                  <a:srgbClr val="64748B"/>
                </a:solidFill>
              </a:rPr>
              <a:t xml:space="preserve">   Risk Mgmt (10)</a:t>
            </a:r>
          </a:p>
          <a:p>
            <a:pPr algn="l"/>
            <a:r>
              <a:rPr lang="en-US" sz="1200">
                <a:solidFill>
                  <a:srgbClr val="374151"/>
                </a:solidFill>
              </a:rPr>
              <a:t>Procurement (19)   Reporting (10)</a:t>
            </a:r>
          </a:p>
        </p:txBody>
      </p:sp>
      <p:sp>
        <p:nvSpPr>
          <p:cNvPr id="5" name="WhyMatters"/>
          <p:cNvSpPr>
            <a:spLocks noGrp="1"/>
          </p:cNvSpPr>
          <p:nvPr/>
        </p:nvSpPr>
        <p:spPr>
          <a:xfrm>
            <a:off x="4686800" y="2200000"/>
            <a:ext cx="4000000" cy="150000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1400" b="1">
                <a:solidFill>
                  <a:srgbClr val="1E40AF"/>
                </a:solidFill>
              </a:rPr>
              <a:t>Why this matters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200">
                <a:solidFill>
                  <a:srgbClr val="1E3A8A"/>
                </a:solidFill>
              </a:rPr>
              <a:t>No gateway or workflow tool has this depth</a:t>
            </a:r>
          </a:p>
          <a:p>
            <a:pPr algn="l"/>
            <a:r>
              <a:rPr lang="en-US" sz="1200">
                <a:solidFill>
                  <a:srgbClr val="1E3A8A"/>
                </a:solidFill>
              </a:rPr>
              <a:t>Proof of domain knowledge before funding</a:t>
            </a:r>
          </a:p>
          <a:p>
            <a:pPr algn="l"/>
            <a:r>
              <a:rPr lang="en-US" sz="1200">
                <a:solidFill>
                  <a:srgbClr val="1E3A8A"/>
                </a:solidFill>
              </a:rPr>
              <a:t>Plug-in for any bank, NBFC or fintech</a:t>
            </a:r>
          </a:p>
        </p:txBody>
      </p:sp>
      <p:sp>
        <p:nvSpPr>
          <p:cNvPr id="6" name="Example"/>
          <p:cNvSpPr>
            <a:spLocks noGrp="1"/>
          </p:cNvSpPr>
          <p:nvPr/>
        </p:nvSpPr>
        <p:spPr>
          <a:xfrm>
            <a:off x="4686800" y="3850000"/>
            <a:ext cx="4000000" cy="175000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lIns="180000" rIns="180000" tIns="180000" bIns="180000"/>
          <a:lstStyle/>
          <a:p>
            <a:pPr algn="l"/>
            <a:r>
              <a:rPr lang="en-US" sz="1300" b="1">
                <a:solidFill>
                  <a:srgbClr val="7C2D12"/>
                </a:solidFill>
              </a:rPr>
              <a:t>Example: detect_fraud_transaction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150">
                <a:solidFill>
                  <a:srgbClr val="9A3412"/>
                </a:solidFill>
              </a:rPr>
              <a:t>Bank submits intent → routes to fraud model</a:t>
            </a:r>
          </a:p>
          <a:p>
            <a:pPr algn="l"/>
            <a:r>
              <a:rPr lang="en-US" sz="1150">
                <a:solidFill>
                  <a:srgbClr val="9A3412"/>
                </a:solidFill>
              </a:rPr>
              <a:t>enforces policy → logs verdict → improves</a:t>
            </a:r>
          </a:p>
          <a:p>
            <a:pPr algn="l"/>
            <a:r>
              <a:rPr lang="en-US" sz="1100"/>
              <a:t xml:space="preserve"> </a:t>
            </a:r>
          </a:p>
          <a:p>
            <a:pPr algn="l"/>
            <a:r>
              <a:rPr lang="en-US" sz="1150" b="1">
                <a:solidFill>
                  <a:srgbClr val="7C2D12"/>
                </a:solidFill>
              </a:rPr>
              <a:t>One API call. Governed. Auditable. Improvable.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