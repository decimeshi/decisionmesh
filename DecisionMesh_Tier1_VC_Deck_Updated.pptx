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Control Plane for Enterprise Decisions</a:t>
            </a:r>
          </a:p>
          <a:p>
            <a:pPr/>
            <a:r>
              <a:t>The missing layer between AI models and business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Become the control layer for all AI-driven decisions</a:t>
            </a:r>
          </a:p>
          <a:p>
            <a:pPr/>
            <a:r>
              <a:t>Like Kubernetes — but for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Fragmented AI systems</a:t>
            </a:r>
          </a:p>
          <a:p>
            <a:pPr/>
            <a:r>
              <a:t>Inconsistent decisions</a:t>
            </a:r>
          </a:p>
          <a:p>
            <a:pPr/>
            <a:r>
              <a:t>No governance layer</a:t>
            </a:r>
          </a:p>
          <a:p>
            <a:pPr/>
            <a:r>
              <a:t>Vendor lock-in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adoption is exploding</a:t>
            </a:r>
          </a:p>
          <a:p>
            <a:pPr/>
            <a:r>
              <a:t>But decision intelligence is missing</a:t>
            </a:r>
          </a:p>
          <a:p>
            <a:pPr/>
            <a:r>
              <a:t>Control &gt;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Intent-driven decision orchestration</a:t>
            </a:r>
          </a:p>
          <a:p>
            <a:pPr/>
            <a:r>
              <a:t>Centralized evaluation + governance</a:t>
            </a:r>
          </a:p>
          <a:p>
            <a:pPr/>
            <a:r>
              <a:t>Continuous learning from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 API</a:t>
            </a:r>
          </a:p>
          <a:p>
            <a:pPr/>
            <a:r>
              <a:t>Decision Engine</a:t>
            </a:r>
          </a:p>
          <a:p>
            <a:pPr/>
            <a:r>
              <a:t>Policy + Governance Layer</a:t>
            </a:r>
          </a:p>
          <a:p>
            <a:pPr/>
            <a:r>
              <a:t>Multi-vendor routing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Intent → Decision Engine → Governance → Vendors → Feedback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008000"/>
                </a:solidFill>
              </a:rPr>
              <a:t>Decision intelligence (not just workflow)</a:t>
            </a:r>
          </a:p>
          <a:p>
            <a:pPr/>
            <a:r>
              <a:rPr>
                <a:solidFill>
                  <a:srgbClr val="008000"/>
                </a:solidFill>
              </a:rPr>
              <a:t>Vendor-agnostic AI routing</a:t>
            </a:r>
          </a:p>
          <a:p>
            <a:pPr/>
            <a:r>
              <a:rPr>
                <a:solidFill>
                  <a:srgbClr val="008000"/>
                </a:solidFill>
              </a:rPr>
              <a:t>Built-in governance + audit</a:t>
            </a:r>
          </a:p>
          <a:p>
            <a:pPr/>
            <a:r>
              <a:rPr>
                <a:solidFill>
                  <a:srgbClr val="008000"/>
                </a:solidFill>
              </a:rPr>
              <a:t>Learns from every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Workflow tools: automate tasks only</a:t>
            </a:r>
          </a:p>
          <a:p>
            <a:pPr/>
            <a:r>
              <a:t>LLM gateways: route requests only</a:t>
            </a:r>
          </a:p>
          <a:p>
            <a:pPr/>
            <a:r>
              <a:rPr>
                <a:solidFill>
                  <a:srgbClr val="008000"/>
                </a:solidFill>
              </a:rPr>
              <a:t>DecisionMesh: evaluates + governs + learns</a:t>
            </a:r>
          </a:p>
          <a:p>
            <a:pPr/>
            <a:r>
              <a:rPr>
                <a:solidFill>
                  <a:srgbClr val="008000"/>
                </a:solidFill>
              </a:rPr>
              <a:t>Full control plane for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market is massive and growing</a:t>
            </a:r>
          </a:p>
          <a:p>
            <a:pPr/>
            <a:r>
              <a:t>No dominant control layer exists</a:t>
            </a:r>
          </a:p>
          <a:p>
            <a:pPr/>
            <a:r>
              <a:t>Category creation: AI Control Plane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SaaS subscription</a:t>
            </a:r>
          </a:p>
          <a:p>
            <a:pPr/>
            <a:r>
              <a:t>Usage-based pricing</a:t>
            </a:r>
          </a:p>
          <a:p>
            <a:pPr/>
            <a:r>
              <a:t>Enterprise licensing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submits intent</a:t>
            </a:r>
          </a:p>
          <a:p>
            <a:pPr/>
            <a:r>
              <a:t>System evaluates options</a:t>
            </a:r>
          </a:p>
          <a:p>
            <a:pPr/>
            <a:r>
              <a:t>Applies rules</a:t>
            </a:r>
          </a:p>
          <a:p>
            <a:pPr/>
            <a:r>
              <a:t>Returns best decision</a:t>
            </a:r>
          </a:p>
          <a:p>
            <a:pPr/>
            <a:r>
              <a:t>Logs + improves future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>
                <a:solidFill>
                  <a:srgbClr val="008000"/>
                </a:solidFill>
              </a:rPr>
              <a:t>Data network effects</a:t>
            </a:r>
          </a:p>
          <a:p>
            <a:pPr/>
            <a:r>
              <a:rPr>
                <a:solidFill>
                  <a:srgbClr val="008000"/>
                </a:solidFill>
              </a:rPr>
              <a:t>Decision history graph</a:t>
            </a:r>
          </a:p>
          <a:p>
            <a:pPr/>
            <a:r>
              <a:rPr>
                <a:solidFill>
                  <a:srgbClr val="008000"/>
                </a:solidFill>
              </a:rPr>
              <a:t>Deep enterprise integration</a:t>
            </a:r>
          </a:p>
          <a:p>
            <a:pPr/>
            <a:r>
              <a:rPr>
                <a:solidFill>
                  <a:srgbClr val="008000"/>
                </a:solidFill>
              </a:rPr>
              <a:t>Switching cost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Autonomous optimization</a:t>
            </a:r>
          </a:p>
          <a:p>
            <a:pPr/>
            <a:r>
              <a:t>Self-learning decision engine</a:t>
            </a:r>
          </a:p>
          <a:p>
            <a:pPr/>
            <a:r>
              <a:t>Decision marketplace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DecisionMesh = AI Decision Control Layer</a:t>
            </a:r>
          </a:p>
          <a:p>
            <a:pPr/>
            <a:r>
              <a:t>Own the brain, not just the 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Team</a:t>
            </a:r>
          </a:p>
        </p:txBody>
      </p:sp>
      <p:sp>
        <p:nvSpPr>
          <p:cNvPr id="3" name="Founder"/>
          <p:cNvSpPr>
            <a:spLocks noGrp="1"/>
          </p:cNvSpPr>
          <p:nvPr/>
        </p:nvSpPr>
        <p:spPr>
          <a:xfrm>
            <a:off x="457200" y="1200000"/>
            <a:ext cx="3800000" cy="3800000"/>
          </a:xfrm>
          <a:prstGeom prst="rect">
            <a:avLst/>
          </a:prstGeom>
          <a:solidFill>
            <a:srgbClr val="EBF3FB"/>
          </a:solidFill>
          <a:ln>
            <a:solidFill>
              <a:srgbClr val="BDD7EE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2200" b="1">
                <a:solidFill>
                  <a:srgbClr val="1B4F72"/>
                </a:solidFill>
              </a:rPr>
              <a:t>Thirupala Reddy</a:t>
            </a:r>
          </a:p>
          <a:p>
            <a:pPr algn="l"/>
            <a:r>
              <a:rPr lang="en-US" sz="1400" b="1">
                <a:solidFill>
                  <a:srgbClr val="2563EB"/>
                </a:solidFill>
              </a:rPr>
              <a:t>Founder &amp; CEO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300">
                <a:solidFill>
                  <a:srgbClr val="1F2937"/>
                </a:solidFill>
              </a:rPr>
              <a:t>Building the AI control plane for enterprise fintech decisions.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Background:  </a:t>
            </a:r>
            <a:r>
              <a:rPr lang="en-US" sz="1200">
                <a:solidFill>
                  <a:srgbClr val="374151"/>
                </a:solidFill>
              </a:rPr>
              <a:t>Enterprise software, payments, AI systems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Focus:  </a:t>
            </a:r>
            <a:r>
              <a:rPr lang="en-US" sz="1200">
                <a:solidFill>
                  <a:srgbClr val="374151"/>
                </a:solidFill>
              </a:rPr>
              <a:t>Product, architecture, go-to-market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Base:  </a:t>
            </a:r>
            <a:r>
              <a:rPr lang="en-US" sz="1200">
                <a:solidFill>
                  <a:srgbClr val="374151"/>
                </a:solidFill>
              </a:rPr>
              <a:t>Hyderabad, India</a:t>
            </a:r>
          </a:p>
        </p:txBody>
      </p:sp>
      <p:sp>
        <p:nvSpPr>
          <p:cNvPr id="4" name="Hiring"/>
          <p:cNvSpPr>
            <a:spLocks noGrp="1"/>
          </p:cNvSpPr>
          <p:nvPr/>
        </p:nvSpPr>
        <p:spPr>
          <a:xfrm>
            <a:off x="4600000" y="1200000"/>
            <a:ext cx="4086800" cy="17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600" b="1">
                <a:solidFill>
                  <a:srgbClr val="14532D"/>
                </a:solidFill>
              </a:rPr>
              <a:t>We’re hiring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ML Engineer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Fintech BD Lead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Enterprise Design Partners</a:t>
            </a:r>
          </a:p>
        </p:txBody>
      </p:sp>
      <p:sp>
        <p:nvSpPr>
          <p:cNvPr id="5" name="WhyUs"/>
          <p:cNvSpPr>
            <a:spLocks noGrp="1"/>
          </p:cNvSpPr>
          <p:nvPr/>
        </p:nvSpPr>
        <p:spPr>
          <a:xfrm>
            <a:off x="4600000" y="3100000"/>
            <a:ext cx="4086800" cy="19000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600" b="1">
                <a:solidFill>
                  <a:srgbClr val="78350F"/>
                </a:solidFill>
              </a:rPr>
              <a:t>Why this team wins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Domain-first: built fintech library before fundraising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Operator mindset: shipping real product, not decks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India-first advantage: Razorpay + Stripe from day 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Fintech Intent Library</a:t>
            </a:r>
          </a:p>
        </p:txBody>
      </p:sp>
      <p:sp>
        <p:nvSpPr>
          <p:cNvPr id="3" name="Stat"/>
          <p:cNvSpPr>
            <a:spLocks noGrp="1"/>
          </p:cNvSpPr>
          <p:nvPr/>
        </p:nvSpPr>
        <p:spPr>
          <a:xfrm>
            <a:off x="457200" y="1150000"/>
            <a:ext cx="8229600" cy="9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lIns="250000" rIns="250000" tIns="150000" bIns="150000" anchor="ctr"/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264 pre-built AI decision intents</a:t>
            </a:r>
            <a:r>
              <a:rPr lang="en-US" sz="1600">
                <a:solidFill>
                  <a:srgbClr val="93C5FD"/>
                </a:solidFill>
              </a:rPr>
              <a:t xml:space="preserve">   across 14 financial domains</a:t>
            </a:r>
          </a:p>
        </p:txBody>
      </p:sp>
      <p:sp>
        <p:nvSpPr>
          <p:cNvPr id="4" name="Domains"/>
          <p:cNvSpPr>
            <a:spLocks noGrp="1"/>
          </p:cNvSpPr>
          <p:nvPr/>
        </p:nvSpPr>
        <p:spPr>
          <a:xfrm>
            <a:off x="457200" y="2200000"/>
            <a:ext cx="4000000" cy="34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300" b="1">
                <a:solidFill>
                  <a:srgbClr val="1E293B"/>
                </a:solidFill>
              </a:rPr>
              <a:t>Domains covered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D4ED8"/>
                </a:solidFill>
              </a:rPr>
              <a:t>Payments (25)</a:t>
            </a:r>
            <a:r>
              <a:rPr lang="en-US" sz="1200">
                <a:solidFill>
                  <a:srgbClr val="64748B"/>
                </a:solidFill>
              </a:rPr>
              <a:t xml:space="preserve">   Lending (23)</a:t>
            </a:r>
          </a:p>
          <a:p>
            <a:pPr algn="l"/>
            <a:r>
              <a:rPr lang="en-US" sz="1200">
                <a:solidFill>
                  <a:srgbClr val="DC2626"/>
                </a:solidFill>
              </a:rPr>
              <a:t>Fraud (21)</a:t>
            </a:r>
            <a:r>
              <a:rPr lang="en-US" sz="1200">
                <a:solidFill>
                  <a:srgbClr val="64748B"/>
                </a:solidFill>
              </a:rPr>
              <a:t xml:space="preserve">   Compliance (22)</a:t>
            </a:r>
          </a:p>
          <a:p>
            <a:pPr algn="l"/>
            <a:r>
              <a:rPr lang="en-US" sz="1200">
                <a:solidFill>
                  <a:srgbClr val="B45309"/>
                </a:solidFill>
              </a:rPr>
              <a:t>AP / AR (29)</a:t>
            </a:r>
            <a:r>
              <a:rPr lang="en-US" sz="1200">
                <a:solidFill>
                  <a:srgbClr val="64748B"/>
                </a:solidFill>
              </a:rPr>
              <a:t xml:space="preserve">   Treasury (20)</a:t>
            </a:r>
          </a:p>
          <a:p>
            <a:pPr algn="l"/>
            <a:r>
              <a:rPr lang="en-US" sz="1200">
                <a:solidFill>
                  <a:srgbClr val="0369A1"/>
                </a:solidFill>
              </a:rPr>
              <a:t>Investments (21)</a:t>
            </a:r>
            <a:r>
              <a:rPr lang="en-US" sz="1200">
                <a:solidFill>
                  <a:srgbClr val="64748B"/>
                </a:solidFill>
              </a:rPr>
              <a:t xml:space="preserve">   Customer Ops (21)</a:t>
            </a:r>
          </a:p>
          <a:p>
            <a:pPr algn="l"/>
            <a:r>
              <a:rPr lang="en-US" sz="1200">
                <a:solidFill>
                  <a:srgbClr val="1E40AF"/>
                </a:solidFill>
              </a:rPr>
              <a:t>Reconciliation (15)</a:t>
            </a:r>
            <a:r>
              <a:rPr lang="en-US" sz="1200">
                <a:solidFill>
                  <a:srgbClr val="64748B"/>
                </a:solidFill>
              </a:rPr>
              <a:t xml:space="preserve">   Billing (18)</a:t>
            </a:r>
          </a:p>
          <a:p>
            <a:pPr algn="l"/>
            <a:r>
              <a:rPr lang="en-US" sz="1200">
                <a:solidFill>
                  <a:srgbClr val="065F46"/>
                </a:solidFill>
              </a:rPr>
              <a:t>Insurance (10)</a:t>
            </a:r>
            <a:r>
              <a:rPr lang="en-US" sz="1200">
                <a:solidFill>
                  <a:srgbClr val="64748B"/>
                </a:solidFill>
              </a:rPr>
              <a:t xml:space="preserve">   Risk Mgmt (10)</a:t>
            </a:r>
          </a:p>
          <a:p>
            <a:pPr algn="l"/>
            <a:r>
              <a:rPr lang="en-US" sz="1200">
                <a:solidFill>
                  <a:srgbClr val="374151"/>
                </a:solidFill>
              </a:rPr>
              <a:t>Procurement (19)   Reporting (10)</a:t>
            </a:r>
          </a:p>
        </p:txBody>
      </p:sp>
      <p:sp>
        <p:nvSpPr>
          <p:cNvPr id="5" name="WhyMatters"/>
          <p:cNvSpPr>
            <a:spLocks noGrp="1"/>
          </p:cNvSpPr>
          <p:nvPr/>
        </p:nvSpPr>
        <p:spPr>
          <a:xfrm>
            <a:off x="4686800" y="2200000"/>
            <a:ext cx="4000000" cy="15000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400" b="1">
                <a:solidFill>
                  <a:srgbClr val="1E40AF"/>
                </a:solidFill>
              </a:rPr>
              <a:t>Why this matters to VCs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No gateway or workflow tool has this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Proof of domain depth before Series A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Plug-in for any bank, NBFC or fintech</a:t>
            </a:r>
          </a:p>
        </p:txBody>
      </p:sp>
      <p:sp>
        <p:nvSpPr>
          <p:cNvPr id="6" name="ExampleFlow"/>
          <p:cNvSpPr>
            <a:spLocks noGrp="1"/>
          </p:cNvSpPr>
          <p:nvPr/>
        </p:nvSpPr>
        <p:spPr>
          <a:xfrm>
            <a:off x="4686800" y="3850000"/>
            <a:ext cx="4000000" cy="175000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300" b="1">
                <a:solidFill>
                  <a:srgbClr val="7C2D12"/>
                </a:solidFill>
              </a:rPr>
              <a:t>Example: detect_fraud_transaction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9A3412"/>
                </a:solidFill>
              </a:rPr>
              <a:t>Bank submits intent → DecisionMesh routes to</a:t>
            </a:r>
          </a:p>
          <a:p>
            <a:pPr algn="l"/>
            <a:r>
              <a:rPr lang="en-US" sz="1150">
                <a:solidFill>
                  <a:srgbClr val="9A3412"/>
                </a:solidFill>
              </a:rPr>
              <a:t>fraud model → enforces policy → logs verdict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 b="1">
                <a:solidFill>
                  <a:srgbClr val="7C2D12"/>
                </a:solidFill>
              </a:rPr>
              <a:t>One API call. Governed. Auditable. Improvable.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